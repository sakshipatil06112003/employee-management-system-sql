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58" r:id="rId14"/>
    <p:sldId id="259" r:id="rId15"/>
  </p:sldIdLst>
  <p:sldSz cx="12192000" cy="6858000"/>
  <p:notesSz cx="6858000" cy="9144000"/>
  <p:embeddedFontLst>
    <p:embeddedFont>
      <p:font typeface="Lato Black" panose="020F0502020204030203" pitchFamily="34" charset="0"/>
      <p:bold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A192F-8C74-4A35-B4B3-497112B968EB}" v="10" dt="2025-12-19T08:38:26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0" autoAdjust="0"/>
  </p:normalViewPr>
  <p:slideViewPr>
    <p:cSldViewPr snapToGrid="0">
      <p:cViewPr varScale="1">
        <p:scale>
          <a:sx n="75" d="100"/>
          <a:sy n="75" d="100"/>
        </p:scale>
        <p:origin x="946" y="-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Patil" userId="d5733b1212307579" providerId="LiveId" clId="{29A07903-81C0-4806-BAEC-E38EE2F639B6}"/>
    <pc:docChg chg="undo custSel addSld delSld modSld">
      <pc:chgData name="Sakshi Patil" userId="d5733b1212307579" providerId="LiveId" clId="{29A07903-81C0-4806-BAEC-E38EE2F639B6}" dt="2025-12-19T08:57:59.107" v="52" actId="1076"/>
      <pc:docMkLst>
        <pc:docMk/>
      </pc:docMkLst>
      <pc:sldChg chg="addSp delSp modSp mod">
        <pc:chgData name="Sakshi Patil" userId="d5733b1212307579" providerId="LiveId" clId="{29A07903-81C0-4806-BAEC-E38EE2F639B6}" dt="2025-12-19T08:41:18.644" v="51" actId="478"/>
        <pc:sldMkLst>
          <pc:docMk/>
          <pc:sldMk cId="365249030" sldId="262"/>
        </pc:sldMkLst>
        <pc:spChg chg="add del mod">
          <ac:chgData name="Sakshi Patil" userId="d5733b1212307579" providerId="LiveId" clId="{29A07903-81C0-4806-BAEC-E38EE2F639B6}" dt="2025-12-19T08:41:18.644" v="51" actId="478"/>
          <ac:spMkLst>
            <pc:docMk/>
            <pc:sldMk cId="365249030" sldId="262"/>
            <ac:spMk id="3" creationId="{925A62B2-EECB-24C8-0538-B96329CAC20D}"/>
          </ac:spMkLst>
        </pc:spChg>
      </pc:sldChg>
      <pc:sldChg chg="addSp delSp modSp mod">
        <pc:chgData name="Sakshi Patil" userId="d5733b1212307579" providerId="LiveId" clId="{29A07903-81C0-4806-BAEC-E38EE2F639B6}" dt="2025-12-19T08:34:17.719" v="31" actId="14100"/>
        <pc:sldMkLst>
          <pc:docMk/>
          <pc:sldMk cId="885409596" sldId="267"/>
        </pc:sldMkLst>
        <pc:spChg chg="mod">
          <ac:chgData name="Sakshi Patil" userId="d5733b1212307579" providerId="LiveId" clId="{29A07903-81C0-4806-BAEC-E38EE2F639B6}" dt="2025-12-19T08:34:17.719" v="31" actId="14100"/>
          <ac:spMkLst>
            <pc:docMk/>
            <pc:sldMk cId="885409596" sldId="267"/>
            <ac:spMk id="2" creationId="{EF362A0B-FAEB-0B76-EAB9-F5A01C750732}"/>
          </ac:spMkLst>
        </pc:spChg>
        <pc:spChg chg="add del mod">
          <ac:chgData name="Sakshi Patil" userId="d5733b1212307579" providerId="LiveId" clId="{29A07903-81C0-4806-BAEC-E38EE2F639B6}" dt="2025-12-19T08:33:57.768" v="28" actId="478"/>
          <ac:spMkLst>
            <pc:docMk/>
            <pc:sldMk cId="885409596" sldId="267"/>
            <ac:spMk id="3" creationId="{4BBA53B9-773D-45DA-F433-1F119540AC1F}"/>
          </ac:spMkLst>
        </pc:spChg>
        <pc:spChg chg="mod">
          <ac:chgData name="Sakshi Patil" userId="d5733b1212307579" providerId="LiveId" clId="{29A07903-81C0-4806-BAEC-E38EE2F639B6}" dt="2025-12-19T08:33:51.309" v="26" actId="20577"/>
          <ac:spMkLst>
            <pc:docMk/>
            <pc:sldMk cId="885409596" sldId="267"/>
            <ac:spMk id="4" creationId="{B9B6EEA2-98AF-8C32-2659-4F082C1E0C89}"/>
          </ac:spMkLst>
        </pc:spChg>
      </pc:sldChg>
      <pc:sldChg chg="addSp modSp new del">
        <pc:chgData name="Sakshi Patil" userId="d5733b1212307579" providerId="LiveId" clId="{29A07903-81C0-4806-BAEC-E38EE2F639B6}" dt="2025-12-19T08:32:44.686" v="4" actId="680"/>
        <pc:sldMkLst>
          <pc:docMk/>
          <pc:sldMk cId="2616777929" sldId="269"/>
        </pc:sldMkLst>
        <pc:spChg chg="add mod">
          <ac:chgData name="Sakshi Patil" userId="d5733b1212307579" providerId="LiveId" clId="{29A07903-81C0-4806-BAEC-E38EE2F639B6}" dt="2025-12-19T08:32:39.046" v="3"/>
          <ac:spMkLst>
            <pc:docMk/>
            <pc:sldMk cId="2616777929" sldId="269"/>
            <ac:spMk id="3" creationId="{4BBA53B9-773D-45DA-F433-1F119540AC1F}"/>
          </ac:spMkLst>
        </pc:spChg>
      </pc:sldChg>
      <pc:sldChg chg="addSp delSp modSp new mod">
        <pc:chgData name="Sakshi Patil" userId="d5733b1212307579" providerId="LiveId" clId="{29A07903-81C0-4806-BAEC-E38EE2F639B6}" dt="2025-12-19T08:57:59.107" v="52" actId="1076"/>
        <pc:sldMkLst>
          <pc:docMk/>
          <pc:sldMk cId="4195745202" sldId="269"/>
        </pc:sldMkLst>
        <pc:spChg chg="add mod">
          <ac:chgData name="Sakshi Patil" userId="d5733b1212307579" providerId="LiveId" clId="{29A07903-81C0-4806-BAEC-E38EE2F639B6}" dt="2025-12-19T08:57:59.107" v="52" actId="1076"/>
          <ac:spMkLst>
            <pc:docMk/>
            <pc:sldMk cId="4195745202" sldId="269"/>
            <ac:spMk id="3" creationId="{0F9B66A9-9480-2C1D-A6BE-B970FAD76E8E}"/>
          </ac:spMkLst>
        </pc:spChg>
        <pc:spChg chg="add del mod">
          <ac:chgData name="Sakshi Patil" userId="d5733b1212307579" providerId="LiveId" clId="{29A07903-81C0-4806-BAEC-E38EE2F639B6}" dt="2025-12-19T08:33:45.279" v="22"/>
          <ac:spMkLst>
            <pc:docMk/>
            <pc:sldMk cId="4195745202" sldId="269"/>
            <ac:spMk id="4" creationId="{F400949C-8B01-3A8F-B058-377D8617BA99}"/>
          </ac:spMkLst>
        </pc:spChg>
        <pc:spChg chg="add mod">
          <ac:chgData name="Sakshi Patil" userId="d5733b1212307579" providerId="LiveId" clId="{29A07903-81C0-4806-BAEC-E38EE2F639B6}" dt="2025-12-19T08:34:42.154" v="35" actId="255"/>
          <ac:spMkLst>
            <pc:docMk/>
            <pc:sldMk cId="4195745202" sldId="269"/>
            <ac:spMk id="6" creationId="{23A3B819-0120-D262-E506-9662B82E67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kshi-patil-48224525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akshipatil0611200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2E8550-5A95-5C62-6D75-5D4F18E260C3}"/>
              </a:ext>
            </a:extLst>
          </p:cNvPr>
          <p:cNvSpPr txBox="1"/>
          <p:nvPr/>
        </p:nvSpPr>
        <p:spPr>
          <a:xfrm>
            <a:off x="2930013" y="3755923"/>
            <a:ext cx="66564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endParaRPr lang="en-IN" sz="3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FF417-0D4B-8DC2-E995-3EBB36D7407F}"/>
              </a:ext>
            </a:extLst>
          </p:cNvPr>
          <p:cNvSpPr txBox="1"/>
          <p:nvPr/>
        </p:nvSpPr>
        <p:spPr>
          <a:xfrm>
            <a:off x="776748" y="1307691"/>
            <a:ext cx="9881420" cy="672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Name : Sakshi Pravin Patil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Background : B.E (Automation and Robotics)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I come from an Automation and Robotics background and have seen how industries are becoming more data-driven. During my final-year project on a strawberry harvesting robot using OpenCV, I worked on collecting data and training a model to classify ripe and rotten strawberries. At that time, I had limited knowledge of data science, which made me realize its importance. This motivated me to learn data science to strengthen my analytical skills, support better decision-making, and expand my career opportunities in a competitive industry.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Fresher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/>
              <a:t>linkedin</a:t>
            </a:r>
            <a:r>
              <a:rPr lang="en-US" sz="1800" b="1" dirty="0"/>
              <a:t> - </a:t>
            </a:r>
            <a:r>
              <a:rPr lang="en-US" sz="1800" b="1" dirty="0">
                <a:hlinkClick r:id="rId3"/>
              </a:rPr>
              <a:t>https://www.linkedin.com/in/sakshi-patil-482245251</a:t>
            </a:r>
            <a:endParaRPr lang="en-US" sz="1800" b="1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Github – </a:t>
            </a:r>
            <a:r>
              <a:rPr lang="en-US" sz="1800" b="1" dirty="0">
                <a:hlinkClick r:id="rId4"/>
              </a:rPr>
              <a:t>https://github.com/sakshipatil06112003</a:t>
            </a:r>
            <a:endParaRPr lang="en-US" sz="1800" b="1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IN" sz="1800" b="1" dirty="0"/>
          </a:p>
          <a:p>
            <a:endParaRPr lang="en-I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2312AE-CC62-7AA6-A77F-036C84ABCB89}"/>
              </a:ext>
            </a:extLst>
          </p:cNvPr>
          <p:cNvSpPr txBox="1"/>
          <p:nvPr/>
        </p:nvSpPr>
        <p:spPr>
          <a:xfrm>
            <a:off x="2113608" y="396386"/>
            <a:ext cx="663677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sz="3500" b="1" dirty="0">
                <a:solidFill>
                  <a:srgbClr val="C00000"/>
                </a:solidFill>
              </a:rPr>
              <a:t>        Objective of the Project</a:t>
            </a:r>
            <a:endParaRPr lang="en-IN" sz="3500" dirty="0">
              <a:solidFill>
                <a:srgbClr val="C00000"/>
              </a:solidFill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F34A262-D8AE-9386-D4C9-FC0EA5E03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 and consistency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primary keys, foreign keys, and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AD71C55-5C04-6526-DFDB-AD061396F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320" y="1342341"/>
            <a:ext cx="967232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implement a relational Employee Management System using SQL to handle real-world organizational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efficiently manage employee details, job roles, departments, payroll, qualifications, and leave records in a centralized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data integrity and consistency by using appropriate primary keys, foreign keys, and constraints.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perform SQL-based data analysis for generating meaningful HR and payroll insights.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data-driven decision-making for effective employee and organizational management.</a:t>
            </a:r>
          </a:p>
        </p:txBody>
      </p:sp>
    </p:spTree>
    <p:extLst>
      <p:ext uri="{BB962C8B-B14F-4D97-AF65-F5344CB8AC3E}">
        <p14:creationId xmlns:p14="http://schemas.microsoft.com/office/powerpoint/2010/main" val="96281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52DDD-88BF-8372-9A01-F35C108FCFE6}"/>
              </a:ext>
            </a:extLst>
          </p:cNvPr>
          <p:cNvSpPr txBox="1"/>
          <p:nvPr/>
        </p:nvSpPr>
        <p:spPr>
          <a:xfrm>
            <a:off x="1188720" y="264161"/>
            <a:ext cx="98653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sz="3500" b="1" dirty="0">
                <a:solidFill>
                  <a:srgbClr val="C00000"/>
                </a:solidFill>
              </a:rPr>
              <a:t>EER Diagram</a:t>
            </a:r>
            <a:endParaRPr lang="en-IN" sz="3500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C28DE-1167-9631-540D-27B5DD9CF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20" y="942489"/>
            <a:ext cx="8808720" cy="5316071"/>
          </a:xfrm>
          <a:prstGeom prst="rect">
            <a:avLst/>
          </a:prstGeom>
          <a:ln w="19050">
            <a:solidFill>
              <a:schemeClr val="tx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95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E9C027-EB42-9A64-21E7-377020A6EE8B}"/>
              </a:ext>
            </a:extLst>
          </p:cNvPr>
          <p:cNvSpPr txBox="1"/>
          <p:nvPr/>
        </p:nvSpPr>
        <p:spPr>
          <a:xfrm>
            <a:off x="3755923" y="570271"/>
            <a:ext cx="449334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solidFill>
                  <a:srgbClr val="FF0000"/>
                </a:solidFill>
              </a:rPr>
              <a:t>SQL Query Results</a:t>
            </a:r>
            <a:endParaRPr lang="en-IN" sz="35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56749-5DD4-F35D-EDBB-052996C50F0A}"/>
              </a:ext>
            </a:extLst>
          </p:cNvPr>
          <p:cNvSpPr txBox="1"/>
          <p:nvPr/>
        </p:nvSpPr>
        <p:spPr>
          <a:xfrm>
            <a:off x="835743" y="1425677"/>
            <a:ext cx="8308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1. How many unique employees are currently in the system?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5D658-9050-BDC2-2D88-2D51C932CF62}"/>
              </a:ext>
            </a:extLst>
          </p:cNvPr>
          <p:cNvSpPr txBox="1"/>
          <p:nvPr/>
        </p:nvSpPr>
        <p:spPr>
          <a:xfrm>
            <a:off x="668594" y="2050252"/>
            <a:ext cx="5633884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Query :</a:t>
            </a:r>
          </a:p>
          <a:p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Select Count(Distinct emp_ID) as unique_employees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from Employee;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2FF103-F3B8-C022-9FC4-F82C0E28E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465712"/>
              </p:ext>
            </p:extLst>
          </p:nvPr>
        </p:nvGraphicFramePr>
        <p:xfrm>
          <a:off x="6754760" y="2644047"/>
          <a:ext cx="1846580" cy="77251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46580">
                  <a:extLst>
                    <a:ext uri="{9D8B030D-6E8A-4147-A177-3AD203B41FA5}">
                      <a16:colId xmlns:a16="http://schemas.microsoft.com/office/drawing/2014/main" val="59431492"/>
                    </a:ext>
                  </a:extLst>
                </a:gridCol>
              </a:tblGrid>
              <a:tr h="295354">
                <a:tc>
                  <a:txBody>
                    <a:bodyPr/>
                    <a:lstStyle/>
                    <a:p>
                      <a:r>
                        <a:rPr lang="en-IN" dirty="0"/>
                        <a:t>Unique_employees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415328"/>
                  </a:ext>
                </a:extLst>
              </a:tr>
              <a:tr h="467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60</a:t>
                      </a:r>
                    </a:p>
                  </a:txBody>
                  <a:tcPr marL="72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2155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5AFC1D-A357-B0FB-469A-2FEA5B21341E}"/>
              </a:ext>
            </a:extLst>
          </p:cNvPr>
          <p:cNvSpPr txBox="1"/>
          <p:nvPr/>
        </p:nvSpPr>
        <p:spPr>
          <a:xfrm>
            <a:off x="6754760" y="2050251"/>
            <a:ext cx="162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Output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286AEB-A87D-DAA3-E479-75AD5DE32A69}"/>
              </a:ext>
            </a:extLst>
          </p:cNvPr>
          <p:cNvSpPr txBox="1"/>
          <p:nvPr/>
        </p:nvSpPr>
        <p:spPr>
          <a:xfrm>
            <a:off x="934065" y="3831569"/>
            <a:ext cx="79936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2. What is the total monthly payroll processed?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A3DC9D-14B8-2B4D-9A29-4FB10843F35C}"/>
              </a:ext>
            </a:extLst>
          </p:cNvPr>
          <p:cNvSpPr txBox="1"/>
          <p:nvPr/>
        </p:nvSpPr>
        <p:spPr>
          <a:xfrm>
            <a:off x="747252" y="4662568"/>
            <a:ext cx="6479458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Query :</a:t>
            </a:r>
          </a:p>
          <a:p>
            <a:endParaRPr lang="en-IN" sz="1800" b="1" dirty="0"/>
          </a:p>
          <a:p>
            <a:pPr>
              <a:lnSpc>
                <a:spcPct val="150000"/>
              </a:lnSpc>
            </a:pPr>
            <a:r>
              <a:rPr lang="en-US" sz="1800" dirty="0"/>
              <a:t>Select SUM(Total_Amount) as Total_Monthly_Payroll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From payroll;</a:t>
            </a:r>
            <a:endParaRPr lang="en-IN" sz="18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3DFE3A2-1BAF-E964-76D8-FEE2A4AD3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644007"/>
              </p:ext>
            </p:extLst>
          </p:nvPr>
        </p:nvGraphicFramePr>
        <p:xfrm>
          <a:off x="6754760" y="5159602"/>
          <a:ext cx="2979175" cy="1013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79175">
                  <a:extLst>
                    <a:ext uri="{9D8B030D-6E8A-4147-A177-3AD203B41FA5}">
                      <a16:colId xmlns:a16="http://schemas.microsoft.com/office/drawing/2014/main" val="1916935223"/>
                    </a:ext>
                  </a:extLst>
                </a:gridCol>
              </a:tblGrid>
              <a:tr h="40612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Total_Monthly_Payroll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015257"/>
                  </a:ext>
                </a:extLst>
              </a:tr>
              <a:tr h="607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2778000.00</a:t>
                      </a:r>
                    </a:p>
                    <a:p>
                      <a:endParaRPr lang="en-IN" dirty="0"/>
                    </a:p>
                  </a:txBody>
                  <a:tcPr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90171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5704B4B-2D48-8874-9225-E2CD73C87812}"/>
              </a:ext>
            </a:extLst>
          </p:cNvPr>
          <p:cNvSpPr txBox="1"/>
          <p:nvPr/>
        </p:nvSpPr>
        <p:spPr>
          <a:xfrm>
            <a:off x="6754760" y="4510974"/>
            <a:ext cx="124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365249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AF8AB-62ED-F00E-A42D-A7B0C83C2627}"/>
              </a:ext>
            </a:extLst>
          </p:cNvPr>
          <p:cNvSpPr txBox="1"/>
          <p:nvPr/>
        </p:nvSpPr>
        <p:spPr>
          <a:xfrm>
            <a:off x="1219200" y="796414"/>
            <a:ext cx="792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3. What is the average salary per department?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706D7-8C17-865A-E07E-48C69F0F1A34}"/>
              </a:ext>
            </a:extLst>
          </p:cNvPr>
          <p:cNvSpPr txBox="1"/>
          <p:nvPr/>
        </p:nvSpPr>
        <p:spPr>
          <a:xfrm>
            <a:off x="816078" y="1563330"/>
            <a:ext cx="5102942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Query :</a:t>
            </a:r>
          </a:p>
          <a:p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Select </a:t>
            </a:r>
            <a:r>
              <a:rPr lang="en-IN" sz="1800" dirty="0" err="1"/>
              <a:t>jd.jobdept</a:t>
            </a:r>
            <a:r>
              <a:rPr lang="en-IN" sz="1800" dirty="0"/>
              <a:t> as department, 	  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      avg(sb.amount) as avg_monthly_salary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from Employee e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join JobDepartment jd on e.Job_ID = jd.Job_ID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join SalaryBonus sb on jd.Job_ID = sb.Job_ID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Group by </a:t>
            </a:r>
            <a:r>
              <a:rPr lang="en-IN" sz="1800" dirty="0" err="1"/>
              <a:t>jd.jobdept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Order by avg_monthly_salary Desc;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F01AB1-C576-BB99-58C8-FEC02E94D3DB}"/>
              </a:ext>
            </a:extLst>
          </p:cNvPr>
          <p:cNvSpPr txBox="1"/>
          <p:nvPr/>
        </p:nvSpPr>
        <p:spPr>
          <a:xfrm>
            <a:off x="5919020" y="1494503"/>
            <a:ext cx="1986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Output 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C516AE-F341-6F13-FCE8-51DDCA53B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037057"/>
              </p:ext>
            </p:extLst>
          </p:nvPr>
        </p:nvGraphicFramePr>
        <p:xfrm>
          <a:off x="6272982" y="2161814"/>
          <a:ext cx="4257366" cy="3865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28683">
                  <a:extLst>
                    <a:ext uri="{9D8B030D-6E8A-4147-A177-3AD203B41FA5}">
                      <a16:colId xmlns:a16="http://schemas.microsoft.com/office/drawing/2014/main" val="3723378992"/>
                    </a:ext>
                  </a:extLst>
                </a:gridCol>
                <a:gridCol w="2128683">
                  <a:extLst>
                    <a:ext uri="{9D8B030D-6E8A-4147-A177-3AD203B41FA5}">
                      <a16:colId xmlns:a16="http://schemas.microsoft.com/office/drawing/2014/main" val="1263547988"/>
                    </a:ext>
                  </a:extLst>
                </a:gridCol>
              </a:tblGrid>
              <a:tr h="43330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Avg_monthly_salary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8153"/>
                  </a:ext>
                </a:extLst>
              </a:tr>
              <a:tr h="433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Legal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84600.000000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678779"/>
                  </a:ext>
                </a:extLst>
              </a:tr>
              <a:tr h="433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81142.857143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373596"/>
                  </a:ext>
                </a:extLst>
              </a:tr>
              <a:tr h="433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75428.571429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234756"/>
                  </a:ext>
                </a:extLst>
              </a:tr>
              <a:tr h="433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72333.333333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945643"/>
                  </a:ext>
                </a:extLst>
              </a:tr>
              <a:tr h="433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70888.888889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654180"/>
                  </a:ext>
                </a:extLst>
              </a:tr>
              <a:tr h="433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68750.000000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025742"/>
                  </a:ext>
                </a:extLst>
              </a:tr>
              <a:tr h="433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Marketing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65625.000000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21079"/>
                  </a:ext>
                </a:extLst>
              </a:tr>
              <a:tr h="398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62571.428571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91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0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457EDE-BCC8-2606-89D5-20842DC0E35F}"/>
              </a:ext>
            </a:extLst>
          </p:cNvPr>
          <p:cNvSpPr txBox="1"/>
          <p:nvPr/>
        </p:nvSpPr>
        <p:spPr>
          <a:xfrm>
            <a:off x="1248697" y="776748"/>
            <a:ext cx="78953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4. Which departments have the highest total salary allocation?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6C10D-D51C-E8EF-755A-498B2207A30F}"/>
              </a:ext>
            </a:extLst>
          </p:cNvPr>
          <p:cNvSpPr txBox="1"/>
          <p:nvPr/>
        </p:nvSpPr>
        <p:spPr>
          <a:xfrm>
            <a:off x="865239" y="1641986"/>
            <a:ext cx="5978013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Query :</a:t>
            </a:r>
          </a:p>
          <a:p>
            <a:pPr>
              <a:lnSpc>
                <a:spcPct val="150000"/>
              </a:lnSpc>
            </a:pPr>
            <a:endParaRPr lang="en-IN" sz="1800" b="1" dirty="0"/>
          </a:p>
          <a:p>
            <a:pPr>
              <a:lnSpc>
                <a:spcPct val="150000"/>
              </a:lnSpc>
            </a:pPr>
            <a:r>
              <a:rPr lang="en-IN" sz="1800" dirty="0"/>
              <a:t>Select </a:t>
            </a:r>
            <a:r>
              <a:rPr lang="en-IN" sz="1800" dirty="0" err="1"/>
              <a:t>jd.jobdept</a:t>
            </a:r>
            <a:r>
              <a:rPr lang="en-IN" sz="1800" dirty="0"/>
              <a:t> as department,          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      Sum(p.total_amount) as total_salary_allocation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From Payroll p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Join Employee e On p.emp_ID = e.emp_ID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Join JobDepartment jd On e.Job_ID = jd.Job_ID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Group by </a:t>
            </a:r>
            <a:r>
              <a:rPr lang="en-IN" sz="1800" dirty="0" err="1"/>
              <a:t>jd.jobdept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Order by total_salary_allocation Desc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Limit 1;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D497A-DDAF-4750-1B15-2FE35E6C8FEC}"/>
              </a:ext>
            </a:extLst>
          </p:cNvPr>
          <p:cNvSpPr txBox="1"/>
          <p:nvPr/>
        </p:nvSpPr>
        <p:spPr>
          <a:xfrm>
            <a:off x="6843252" y="1641986"/>
            <a:ext cx="146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Output 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ED8062-CB17-1351-1090-41AD298C3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002125"/>
              </p:ext>
            </p:extLst>
          </p:nvPr>
        </p:nvGraphicFramePr>
        <p:xfrm>
          <a:off x="6941574" y="2556385"/>
          <a:ext cx="4532672" cy="139618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66336">
                  <a:extLst>
                    <a:ext uri="{9D8B030D-6E8A-4147-A177-3AD203B41FA5}">
                      <a16:colId xmlns:a16="http://schemas.microsoft.com/office/drawing/2014/main" val="3622273591"/>
                    </a:ext>
                  </a:extLst>
                </a:gridCol>
                <a:gridCol w="2266336">
                  <a:extLst>
                    <a:ext uri="{9D8B030D-6E8A-4147-A177-3AD203B41FA5}">
                      <a16:colId xmlns:a16="http://schemas.microsoft.com/office/drawing/2014/main" val="3086181869"/>
                    </a:ext>
                  </a:extLst>
                </a:gridCol>
              </a:tblGrid>
              <a:tr h="69809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 marT="72000" marB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total_salary_allocation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211324"/>
                  </a:ext>
                </a:extLst>
              </a:tr>
              <a:tr h="698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420500.00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86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83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056BD-0035-48E0-21BE-2A0B4849AD46}"/>
              </a:ext>
            </a:extLst>
          </p:cNvPr>
          <p:cNvSpPr txBox="1"/>
          <p:nvPr/>
        </p:nvSpPr>
        <p:spPr>
          <a:xfrm>
            <a:off x="1071715" y="855406"/>
            <a:ext cx="10550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5. What is the average number of leave days taken by its employees per department?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40D2F-A342-FB8D-AD0A-C1BC47B97478}"/>
              </a:ext>
            </a:extLst>
          </p:cNvPr>
          <p:cNvSpPr txBox="1"/>
          <p:nvPr/>
        </p:nvSpPr>
        <p:spPr>
          <a:xfrm>
            <a:off x="772160" y="1412240"/>
            <a:ext cx="5923280" cy="5640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Query :</a:t>
            </a:r>
          </a:p>
          <a:p>
            <a:pPr>
              <a:lnSpc>
                <a:spcPct val="150000"/>
              </a:lnSpc>
            </a:pPr>
            <a:endParaRPr lang="en-IN" sz="1600" b="1" dirty="0"/>
          </a:p>
          <a:p>
            <a:pPr>
              <a:lnSpc>
                <a:spcPct val="150000"/>
              </a:lnSpc>
            </a:pPr>
            <a:r>
              <a:rPr lang="en-IN" sz="1600" dirty="0"/>
              <a:t>Select Jobdept,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   AVG(LeaveCount) AS Avg_Leave_Days_Per_Employee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From (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Select e.emp_ID, jd.Jobdept,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       COUNT(l.leave_ID) AS LeaveCount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FROM Employee 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JOIN JobDepartment jd ON e.Job_ID = jd.Job_ID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LEFT JOIN Leaves l ON e.emp_ID = l.emp_ID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GROUP BY e.emp_ID, jd.Jobdept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) AS temp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GROUP BY Jobdept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ORDER BY Avg_Leave_Days_Per_Employee DESC;</a:t>
            </a:r>
          </a:p>
          <a:p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0E74BC7-ABA6-7687-E0A6-31A83E17D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529808"/>
              </p:ext>
            </p:extLst>
          </p:nvPr>
        </p:nvGraphicFramePr>
        <p:xfrm>
          <a:off x="6959600" y="2293598"/>
          <a:ext cx="4460240" cy="381255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0120">
                  <a:extLst>
                    <a:ext uri="{9D8B030D-6E8A-4147-A177-3AD203B41FA5}">
                      <a16:colId xmlns:a16="http://schemas.microsoft.com/office/drawing/2014/main" val="2757456352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1870994038"/>
                    </a:ext>
                  </a:extLst>
                </a:gridCol>
              </a:tblGrid>
              <a:tr h="5194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Avg_Leave_Days_Per_Employee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934238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509914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130385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751175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Marketing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897705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778501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092350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380935"/>
                  </a:ext>
                </a:extLst>
              </a:tr>
              <a:tr h="41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Legal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27471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D3C1D5F-5195-9109-F7DA-77659132C401}"/>
              </a:ext>
            </a:extLst>
          </p:cNvPr>
          <p:cNvSpPr txBox="1"/>
          <p:nvPr/>
        </p:nvSpPr>
        <p:spPr>
          <a:xfrm>
            <a:off x="6959600" y="1605280"/>
            <a:ext cx="1239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164823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D81A3E-6E01-1520-64A6-EE83AA4B9C15}"/>
              </a:ext>
            </a:extLst>
          </p:cNvPr>
          <p:cNvSpPr txBox="1"/>
          <p:nvPr/>
        </p:nvSpPr>
        <p:spPr>
          <a:xfrm>
            <a:off x="762000" y="538480"/>
            <a:ext cx="1038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6. What is the average value of total_amount after considering leave deductions?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EDD46-5247-04BA-927E-8DC46364C5DD}"/>
              </a:ext>
            </a:extLst>
          </p:cNvPr>
          <p:cNvSpPr txBox="1"/>
          <p:nvPr/>
        </p:nvSpPr>
        <p:spPr>
          <a:xfrm>
            <a:off x="568960" y="1330960"/>
            <a:ext cx="8575040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Query :</a:t>
            </a:r>
          </a:p>
          <a:p>
            <a:pPr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Select AVG(Total_Amount - (Leave_Count * 500))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   as Average_After_Deductions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From (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Select  p.emp_Id,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       p.Total_Amount,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       COUNT(l.leave_Id) AS Leave_Count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From Payroll p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Left join Leaves l on p.emp_Id = l.emp_Id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Group  by p.emp_Id, p.Total_Amount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) as t;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CDE23A-24CE-D78D-2B51-B4CFB4A88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554760"/>
              </p:ext>
            </p:extLst>
          </p:nvPr>
        </p:nvGraphicFramePr>
        <p:xfrm>
          <a:off x="6685280" y="2245360"/>
          <a:ext cx="3423920" cy="1183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423920">
                  <a:extLst>
                    <a:ext uri="{9D8B030D-6E8A-4147-A177-3AD203B41FA5}">
                      <a16:colId xmlns:a16="http://schemas.microsoft.com/office/drawing/2014/main" val="3969138792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Average_After_Deduction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958443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45800.000000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2844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3830AB-30FB-5273-9DE6-B9F46C3D2797}"/>
              </a:ext>
            </a:extLst>
          </p:cNvPr>
          <p:cNvSpPr txBox="1"/>
          <p:nvPr/>
        </p:nvSpPr>
        <p:spPr>
          <a:xfrm>
            <a:off x="6390641" y="1442720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27858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B6EEA2-98AF-8C32-2659-4F082C1E0C89}"/>
              </a:ext>
            </a:extLst>
          </p:cNvPr>
          <p:cNvSpPr txBox="1"/>
          <p:nvPr/>
        </p:nvSpPr>
        <p:spPr>
          <a:xfrm>
            <a:off x="1137920" y="467361"/>
            <a:ext cx="94488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solidFill>
                  <a:srgbClr val="C00000"/>
                </a:solidFill>
              </a:rPr>
              <a:t>Business insights 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362A0B-FAEB-0B76-EAB9-F5A01C750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40" y="1415770"/>
            <a:ext cx="963168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Business Insights 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departments have a higher employee count, leading to uneven workload distribution across the organization.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Departments with more employees also show higher total payroll expenditure, indicating a direct link between workforce size and salary cost.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salary differs by department, mainly due to different job roles and salary structures.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small group of employees contributes to the highest payroll amounts, usually due to higher roles or bonuses.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Employee leave records directly impact payroll, as leave deductions reduce the final payable salary.</a:t>
            </a:r>
          </a:p>
        </p:txBody>
      </p:sp>
    </p:spTree>
    <p:extLst>
      <p:ext uri="{BB962C8B-B14F-4D97-AF65-F5344CB8AC3E}">
        <p14:creationId xmlns:p14="http://schemas.microsoft.com/office/powerpoint/2010/main" val="885409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B66A9-9480-2C1D-A6BE-B970FAD76E8E}"/>
              </a:ext>
            </a:extLst>
          </p:cNvPr>
          <p:cNvSpPr txBox="1"/>
          <p:nvPr/>
        </p:nvSpPr>
        <p:spPr>
          <a:xfrm>
            <a:off x="1391920" y="1538739"/>
            <a:ext cx="9672320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employee distribution across departments to reduce workload pressure and improve productivity.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 payroll-heavy departments to control overall salary and bonus expenses.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 compensation structures for roles that have a high impact on payroll to ensure cost efficiency.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employee leave patterns and introduce leave policies to minimize frequent payroll deductions.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 qualification data to plan employee training, promotions, and better role assignments.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3B819-0120-D262-E506-9662B82E67C5}"/>
              </a:ext>
            </a:extLst>
          </p:cNvPr>
          <p:cNvSpPr txBox="1"/>
          <p:nvPr/>
        </p:nvSpPr>
        <p:spPr>
          <a:xfrm>
            <a:off x="2936240" y="436880"/>
            <a:ext cx="6197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C00000"/>
                </a:solidFill>
              </a:rPr>
              <a:t>Recommendations</a:t>
            </a:r>
            <a:endParaRPr lang="en-US" sz="35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74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3B069F-E6F9-B49E-90C9-B4C12CA2EEF2}"/>
              </a:ext>
            </a:extLst>
          </p:cNvPr>
          <p:cNvSpPr txBox="1"/>
          <p:nvPr/>
        </p:nvSpPr>
        <p:spPr>
          <a:xfrm>
            <a:off x="2590800" y="680720"/>
            <a:ext cx="62890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solidFill>
                  <a:srgbClr val="C00000"/>
                </a:solidFill>
              </a:rPr>
              <a:t>Conclusion</a:t>
            </a:r>
            <a:endParaRPr lang="en-IN" sz="3500" dirty="0">
              <a:solidFill>
                <a:srgbClr val="C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34B24-7BA6-3FF4-E225-C9B3A6CAD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" y="1471880"/>
            <a:ext cx="9926320" cy="47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and implemented a relational Employee Management System using SQL.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interrelated tables to manage employee, job, department, salary, leave, qualification, and payroll data.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Established proper relationships using primary keys and foreign keys to maintain data integrity.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Executed SQL queries with joins and aggregations to analyze employee distribution, salaries, leaves, and payroll.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departments with higher employee count and higher salary expenditure.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the impact of employee leaves on payroll calculations through salary deductions.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qualification data to understand skill distribution and role assignments across departments.</a:t>
            </a:r>
          </a:p>
        </p:txBody>
      </p:sp>
    </p:spTree>
    <p:extLst>
      <p:ext uri="{BB962C8B-B14F-4D97-AF65-F5344CB8AC3E}">
        <p14:creationId xmlns:p14="http://schemas.microsoft.com/office/powerpoint/2010/main" val="343470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C6B0C0-EE63-63B8-7615-080270B45AC8}"/>
              </a:ext>
            </a:extLst>
          </p:cNvPr>
          <p:cNvSpPr txBox="1"/>
          <p:nvPr/>
        </p:nvSpPr>
        <p:spPr>
          <a:xfrm>
            <a:off x="4683760" y="690880"/>
            <a:ext cx="27838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solidFill>
                  <a:srgbClr val="C00000"/>
                </a:solidFill>
              </a:rPr>
              <a:t>Challenges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B6C2CA-06B0-7CC7-B4B4-1405117D4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60" y="1659984"/>
            <a:ext cx="9885680" cy="42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Designing correct relationships between multiple interrelated tables in the database.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Implementing foreign keys with appropriate cascading actions to maintain referential integrity.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Writing SQL queries involving multiple joins across employee, job, salary, leave, and payroll tables.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Handling NULL values while analyzing payroll and employee leave data.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Calculating accurate totals and averages using aggregate functions such as SUM() and AVG().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Ensuring data consistency while linking employee, salary, and leave information across tables.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1152</Words>
  <Application>Microsoft Office PowerPoint</Application>
  <PresentationFormat>Widescreen</PresentationFormat>
  <Paragraphs>160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Lato Black</vt:lpstr>
      <vt:lpstr>Libre Baskerville</vt:lpstr>
      <vt:lpstr>Arial</vt:lpstr>
      <vt:lpstr>Wingdings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Sakshi Patil</cp:lastModifiedBy>
  <cp:revision>10</cp:revision>
  <cp:lastPrinted>2025-12-20T04:23:21Z</cp:lastPrinted>
  <dcterms:created xsi:type="dcterms:W3CDTF">2021-02-16T05:19:01Z</dcterms:created>
  <dcterms:modified xsi:type="dcterms:W3CDTF">2025-12-29T18:40:55Z</dcterms:modified>
</cp:coreProperties>
</file>